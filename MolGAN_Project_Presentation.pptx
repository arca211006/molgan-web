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MolGAN: Deep Generative Models for Molecular Graphs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Accelerating De Novo Drug Discovery with AI</a:t>
            </a:r>
          </a:p>
          <a:p>
            <a:r>
              <a:t>Full-Stack Implementation (Generative AI + Cheminformatics)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Chemical space is vast (estimated 10^60 drug-like molecules).</a:t>
            </a:r>
          </a:p>
          <a:p>
            <a:pPr/>
            <a:r>
              <a:t>Traditional drug discovery is slow, expensive, and low-yield.</a:t>
            </a:r>
          </a:p>
          <a:p>
            <a:pPr/>
            <a:r>
              <a:t>Generative models often fail to respect chemical valency rules.</a:t>
            </a:r>
          </a:p>
          <a:p>
            <a:pPr/>
            <a:r>
              <a:t>Lack of connectivity in generated molecular structures.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Accelerate discovery of life-saving therapeutics.</a:t>
            </a:r>
          </a:p>
          <a:p>
            <a:pPr/>
            <a:r>
              <a:t>Design molecules tailored to specific biological targets.</a:t>
            </a:r>
          </a:p>
          <a:p>
            <a:pPr/>
            <a:r>
              <a:t>Reduce R&amp;D costs through 'In Silico' pre-validation.</a:t>
            </a:r>
          </a:p>
          <a:p>
            <a:pPr/>
            <a:r>
              <a:t>Explore novel regions of chemical space unseen by humans.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Library Screening: Limited to pre-existing known databases.</a:t>
            </a:r>
          </a:p>
          <a:p>
            <a:pPr/>
            <a:r>
              <a:t>SMILES-based Models: High sensitivity to syntax errors.</a:t>
            </a:r>
          </a:p>
          <a:p>
            <a:pPr/>
            <a:r>
              <a:t>Early VAEs: Struggled with discrete graph structure validity.</a:t>
            </a:r>
          </a:p>
          <a:p>
            <a:pPr/>
            <a:r>
              <a:t>Manual Design: Highly dependent on expert intuition and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Generator: Maps noise/prompts to molecular adjacency matrices.</a:t>
            </a:r>
          </a:p>
          <a:p>
            <a:pPr/>
            <a:r>
              <a:t>Discriminator: Uses Graph Convolutional Networks (GCNs) for validation.</a:t>
            </a:r>
          </a:p>
          <a:p>
            <a:pPr/>
            <a:r>
              <a:t>Reward Network: Optimizes for chemical properties (QED, Solubility).</a:t>
            </a:r>
          </a:p>
          <a:p>
            <a:pPr/>
            <a:r>
              <a:t>WGAN-GP: Wasserstein loss with Gradient Penalty for training stability.</a:t>
            </a:r>
          </a:p>
          <a:p>
            <a:pPr/>
            <a:r>
              <a:t>Post-processing: RDKit sanitization and LCC extraction.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Learning: Python, PyTorch, CUDA.</a:t>
            </a:r>
          </a:p>
          <a:p>
            <a:pPr/>
            <a:r>
              <a:t>Cheminformatics: RDKit (Molecular graphs, property calculation).</a:t>
            </a:r>
          </a:p>
          <a:p>
            <a:pPr/>
            <a:r>
              <a:t>Backend: FastAPI for generation microservices.</a:t>
            </a:r>
          </a:p>
          <a:p>
            <a:pPr/>
            <a:r>
              <a:t>Frontend: React.js, Vite, Tailwind CSS.</a:t>
            </a:r>
          </a:p>
          <a:p>
            <a:pPr/>
            <a:r>
              <a:t>NLP: Sentence Transformers for prompt-based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Chemical Validity (Valency constraints).</a:t>
            </a:r>
          </a:p>
          <a:p>
            <a:pPr/>
            <a:r>
              <a:t>Maintaining Molecular Connectivity.</a:t>
            </a:r>
          </a:p>
          <a:p>
            <a:pPr/>
            <a:r>
              <a:t>Stabilizing GAN training loops to avoid mode collapse.</a:t>
            </a:r>
          </a:p>
          <a:p>
            <a:pPr/>
            <a:r>
              <a:t>Optimizing multiple rewards simultaneously (QED, Solubility).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 Discovery for pharmaceutical companies.</a:t>
            </a:r>
          </a:p>
          <a:p>
            <a:pPr/>
            <a:r>
              <a:t>Property Optimization for existing chemical candidates.</a:t>
            </a:r>
          </a:p>
          <a:p>
            <a:pPr/>
            <a:r>
              <a:t>Materials Science: Designing organic polymers/semiconductors.</a:t>
            </a:r>
          </a:p>
          <a:p>
            <a:pPr/>
            <a:r>
              <a:t>Interactive AI tools for research labs.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Pharmaceutical R&amp;D Teams.</a:t>
            </a:r>
          </a:p>
          <a:p>
            <a:pPr/>
            <a:r>
              <a:t>Academic Cheminformatics Researchers.</a:t>
            </a:r>
          </a:p>
          <a:p>
            <a:pPr/>
            <a:r>
              <a:t>Data Scientists &amp; AI Developers.</a:t>
            </a:r>
          </a:p>
          <a:p>
            <a:pPr/>
            <a:r>
              <a:t>Biotechnology Startups.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Graph GANs with chemical reward signals successfully.</a:t>
            </a:r>
          </a:p>
          <a:p>
            <a:pPr/>
            <a:r>
              <a:t>Developed a modern, interactive dashboard for real-time design.</a:t>
            </a:r>
          </a:p>
          <a:p>
            <a:pPr/>
            <a:r>
              <a:t>Future: Scaling to larger molecules and complex protein-binding.</a:t>
            </a:r>
          </a:p>
          <a:p>
            <a:pPr/>
            <a:r>
              <a:t>Bridging the gap between AI and biological reality.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